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31"/>
  </p:notesMasterIdLst>
  <p:handoutMasterIdLst>
    <p:handoutMasterId r:id="rId32"/>
  </p:handoutMasterIdLst>
  <p:sldIdLst>
    <p:sldId id="412" r:id="rId2"/>
    <p:sldId id="414" r:id="rId3"/>
    <p:sldId id="442" r:id="rId4"/>
    <p:sldId id="478" r:id="rId5"/>
    <p:sldId id="479" r:id="rId6"/>
    <p:sldId id="480" r:id="rId7"/>
    <p:sldId id="477" r:id="rId8"/>
    <p:sldId id="457" r:id="rId9"/>
    <p:sldId id="458" r:id="rId10"/>
    <p:sldId id="462" r:id="rId11"/>
    <p:sldId id="463" r:id="rId12"/>
    <p:sldId id="460" r:id="rId13"/>
    <p:sldId id="482" r:id="rId14"/>
    <p:sldId id="459" r:id="rId15"/>
    <p:sldId id="465" r:id="rId16"/>
    <p:sldId id="464" r:id="rId17"/>
    <p:sldId id="466" r:id="rId18"/>
    <p:sldId id="468" r:id="rId19"/>
    <p:sldId id="467" r:id="rId20"/>
    <p:sldId id="471" r:id="rId21"/>
    <p:sldId id="472" r:id="rId22"/>
    <p:sldId id="469" r:id="rId23"/>
    <p:sldId id="483" r:id="rId24"/>
    <p:sldId id="461" r:id="rId25"/>
    <p:sldId id="473" r:id="rId26"/>
    <p:sldId id="474" r:id="rId27"/>
    <p:sldId id="475" r:id="rId28"/>
    <p:sldId id="476" r:id="rId29"/>
    <p:sldId id="470" r:id="rId30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C72"/>
    <a:srgbClr val="FF6937"/>
    <a:srgbClr val="0000FF"/>
    <a:srgbClr val="D60093"/>
    <a:srgbClr val="008000"/>
    <a:srgbClr val="FF0066"/>
    <a:srgbClr val="FF0000"/>
    <a:srgbClr val="CC0066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67" autoAdjust="0"/>
    <p:restoredTop sz="75206" autoAdjust="0"/>
  </p:normalViewPr>
  <p:slideViewPr>
    <p:cSldViewPr>
      <p:cViewPr varScale="1">
        <p:scale>
          <a:sx n="81" d="100"/>
          <a:sy n="81" d="100"/>
        </p:scale>
        <p:origin x="1602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1" d="100"/>
        <a:sy n="51" d="100"/>
      </p:scale>
      <p:origin x="0" y="3768"/>
    </p:cViewPr>
  </p:sorterViewPr>
  <p:notesViewPr>
    <p:cSldViewPr>
      <p:cViewPr varScale="1">
        <p:scale>
          <a:sx n="53" d="100"/>
          <a:sy n="53" d="100"/>
        </p:scale>
        <p:origin x="-1836" y="-84"/>
      </p:cViewPr>
      <p:guideLst>
        <p:guide orient="horz" pos="3024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1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3E28C4F-4FE9-4D22-93D8-487A4D01D983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189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BD5F390F-F66B-4732-9C46-6C80D0575F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96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/>
          <a:lstStyle>
            <a:lvl1pPr algn="r">
              <a:defRPr sz="1300"/>
            </a:lvl1pPr>
          </a:lstStyle>
          <a:p>
            <a:fld id="{EE18CB36-612C-4E4A-AC83-E89476AEC2BF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1" tIns="48326" rIns="96651" bIns="4832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1"/>
            <a:ext cx="5852160" cy="4320540"/>
          </a:xfrm>
          <a:prstGeom prst="rect">
            <a:avLst/>
          </a:prstGeom>
        </p:spPr>
        <p:txBody>
          <a:bodyPr vert="horz" lIns="96651" tIns="48326" rIns="96651" bIns="4832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 anchor="b"/>
          <a:lstStyle>
            <a:lvl1pPr algn="r">
              <a:defRPr sz="1300"/>
            </a:lvl1pPr>
          </a:lstStyle>
          <a:p>
            <a:fld id="{EE707532-839C-41A2-9E71-D5288AEAE6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4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FF6937"/>
                </a:solidFill>
                <a:latin typeface="Ubuntu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b="0" i="0" dirty="0">
                <a:effectLst/>
                <a:latin typeface="Slack-Lato"/>
              </a:rPr>
              <a:t>ot-csci3030u-2020.slack.com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1EE080-39AD-40FF-8D11-D7D37CC43797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790969" y="701038"/>
            <a:ext cx="2610062" cy="84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2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6937"/>
                </a:solidFill>
                <a:latin typeface="Ubuntu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b="0" i="0" dirty="0">
                <a:effectLst/>
                <a:latin typeface="Slack-Lato"/>
              </a:rPr>
              <a:t>ot-csci3030u-2020.slack.com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1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3C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3167062"/>
          </a:xfrm>
        </p:spPr>
        <p:txBody>
          <a:bodyPr anchor="b"/>
          <a:lstStyle>
            <a:lvl1pPr>
              <a:defRPr sz="6000">
                <a:solidFill>
                  <a:srgbClr val="FF6937"/>
                </a:solidFill>
                <a:latin typeface="Ubuntu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76800"/>
            <a:ext cx="10515600" cy="12128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Winter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ot-csci3030u-2020.slack.com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3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ot-csci3030u-2020.slack.com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29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ot-csci3030u-2020.slack.com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4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ot-csci3030u-2020.slack.com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82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ot-csci3030u-2020.slack.com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87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ot-csci3030u-2020.slack.com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ot-csci3030u-2020.slack.com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82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ot-csci3030u-2020.slack.com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45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ot-csci3030u-2020.slack.com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40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Winter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ot-csci3030u-2020.slack.com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2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github.com/en/education/manage-coursework-with-github-classroom/learn-with-github-classroom/view-autograding-result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version-control-systems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geeksforgeeks.org/version-control-systems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ducation.github.com/pack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github/importing-your-projects-to-github/adding-an-existing-project-to-github-using-the-command-line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ocs.github.com/en/github/creating-cloning-and-archiving-repositories/creating-a-new-repository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github/importing-your-projects-to-github/importing-a-git-repository-using-the-command-line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repositories/managing-your-repositorys-settings-and-features/customizing-your-repository/about-readmes" TargetMode="External"/><Relationship Id="rId2" Type="http://schemas.openxmlformats.org/officeDocument/2006/relationships/hyperlink" Target="https://docs.github.com/en/get-started/getting-started-with-git/ignoring-fil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reecodecamp.org/news/how-to-write-a-good-readme-file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ithub.com/en/pull-requests/collaborating-with-pull-requests/proposing-changes-to-your-work-with-pull-requests/about-branches" TargetMode="External"/><Relationship Id="rId4" Type="http://schemas.openxmlformats.org/officeDocument/2006/relationships/hyperlink" Target="https://guides.github.com/introduction/flow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ithub.com/en/pull-requests/collaborating-with-pull-requests/proposing-changes-to-your-work-with-pull-requests/about-branches" TargetMode="External"/><Relationship Id="rId3" Type="http://schemas.openxmlformats.org/officeDocument/2006/relationships/hyperlink" Target="https://docs.github.com/en/github/importing-your-projects-to-github/importing-a-git-repository-using-the-command-line" TargetMode="External"/><Relationship Id="rId7" Type="http://schemas.openxmlformats.org/officeDocument/2006/relationships/hyperlink" Target="https://www.freecodecamp.org/news/how-to-write-a-good-readme-file/" TargetMode="External"/><Relationship Id="rId2" Type="http://schemas.openxmlformats.org/officeDocument/2006/relationships/hyperlink" Target="https://docs.github.com/en/github/importing-your-projects-to-github/adding-an-existing-project-to-github-using-the-command-lin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ithub.com/en/repositories/managing-your-repositorys-settings-and-features/customizing-your-repository/about-readmes" TargetMode="External"/><Relationship Id="rId5" Type="http://schemas.openxmlformats.org/officeDocument/2006/relationships/hyperlink" Target="https://docs.github.com/en/get-started/getting-started-with-git/ignoring-files" TargetMode="External"/><Relationship Id="rId10" Type="http://schemas.openxmlformats.org/officeDocument/2006/relationships/hyperlink" Target="https://guides.github.com/" TargetMode="External"/><Relationship Id="rId4" Type="http://schemas.openxmlformats.org/officeDocument/2006/relationships/hyperlink" Target="https://education.github.com/pack" TargetMode="External"/><Relationship Id="rId9" Type="http://schemas.openxmlformats.org/officeDocument/2006/relationships/hyperlink" Target="https://guides.github.com/introduction/flo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7061F-D414-4429-B41F-B1C40E862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>
            <a:normAutofit/>
          </a:bodyPr>
          <a:lstStyle/>
          <a:p>
            <a:r>
              <a:rPr lang="en-CA" sz="4400" dirty="0"/>
              <a:t>Software Systems Development and Integration</a:t>
            </a:r>
            <a:br>
              <a:rPr lang="en-CA" sz="4400" dirty="0"/>
            </a:br>
            <a:r>
              <a:rPr lang="en-CA" sz="3200" dirty="0"/>
              <a:t>CSCI 2020U</a:t>
            </a:r>
            <a:endParaRPr lang="en-CA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D1587-EB03-4E4D-804A-14306B49B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9144000" cy="1655762"/>
          </a:xfrm>
        </p:spPr>
        <p:txBody>
          <a:bodyPr/>
          <a:lstStyle/>
          <a:p>
            <a:r>
              <a:rPr lang="en-CA" dirty="0"/>
              <a:t>Version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213E4D-8F52-40F9-9DE3-5D01D0AF006C}"/>
              </a:ext>
            </a:extLst>
          </p:cNvPr>
          <p:cNvSpPr txBox="1"/>
          <p:nvPr/>
        </p:nvSpPr>
        <p:spPr>
          <a:xfrm>
            <a:off x="838200" y="6324600"/>
            <a:ext cx="1051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Acknowledgement: Parts of this course materials are based on material prepared by 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Randy Fortier.</a:t>
            </a:r>
            <a:endParaRPr lang="en-CA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4CCE5-F24D-40B8-9675-FB54ED611384}"/>
              </a:ext>
            </a:extLst>
          </p:cNvPr>
          <p:cNvSpPr txBox="1"/>
          <p:nvPr/>
        </p:nvSpPr>
        <p:spPr>
          <a:xfrm>
            <a:off x="4914900" y="4363283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Mariana Shimabukuro</a:t>
            </a:r>
          </a:p>
        </p:txBody>
      </p:sp>
    </p:spTree>
    <p:extLst>
      <p:ext uri="{BB962C8B-B14F-4D97-AF65-F5344CB8AC3E}">
        <p14:creationId xmlns:p14="http://schemas.microsoft.com/office/powerpoint/2010/main" val="4128210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C136-39C3-4195-97E4-E0B5923FE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Today we will…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DA034-71EB-4A9A-B460-058D375E2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Talk about GitHub Classroom</a:t>
            </a:r>
          </a:p>
          <a:p>
            <a:r>
              <a:rPr lang="en-US" dirty="0"/>
              <a:t>Learn about version control</a:t>
            </a:r>
          </a:p>
          <a:p>
            <a:pPr lvl="1"/>
            <a:r>
              <a:rPr lang="en-US" dirty="0"/>
              <a:t>Definition</a:t>
            </a:r>
          </a:p>
          <a:p>
            <a:pPr lvl="1"/>
            <a:r>
              <a:rPr lang="en-US" dirty="0"/>
              <a:t>Examples using Git</a:t>
            </a:r>
          </a:p>
          <a:p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B1668-C297-4A58-AF07-1CE435F0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94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DB74-2E3F-4F9B-A882-3D8457022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GitHub Classroom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3537A-902F-4EFB-9E3F-5F0C1FE8C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Accepting and submitting assignments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09AF1-4068-4BE2-87BB-81434E596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84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AC66C2-527E-4051-A9A2-95F93D466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Canvas/Assignments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8FF2DA-C772-4605-ADD2-E850BA7D9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3383F-271F-4B7B-8967-77CA2FEA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0" name="Picture 2" descr="https://i.gyazo.com/da7dc742b096a861ec2371362f658b1f.png">
            <a:extLst>
              <a:ext uri="{FF2B5EF4-FFF2-40B4-BE49-F238E27FC236}">
                <a16:creationId xmlns:a16="http://schemas.microsoft.com/office/drawing/2014/main" id="{AE1E9771-8C7F-42A8-AA82-A6DE41355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2" y="1447800"/>
            <a:ext cx="9553575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40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7F170-3598-4DAA-8620-A3D94BD56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Classroom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0EDE2-1C07-46D9-AE6A-039D1C830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BD380-1404-4145-9888-949360DD93A4}"/>
              </a:ext>
            </a:extLst>
          </p:cNvPr>
          <p:cNvSpPr/>
          <p:nvPr/>
        </p:nvSpPr>
        <p:spPr>
          <a:xfrm>
            <a:off x="6705600" y="41910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https://i.gyazo.com/f496a1fce0952530bca6887a619324d0.png">
            <a:extLst>
              <a:ext uri="{FF2B5EF4-FFF2-40B4-BE49-F238E27FC236}">
                <a16:creationId xmlns:a16="http://schemas.microsoft.com/office/drawing/2014/main" id="{3EA89E6A-DE28-41B2-98FB-EF51A9691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619" y="1430172"/>
            <a:ext cx="7370762" cy="504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AB743-7217-49A4-BA5F-3203A1D8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85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705C-256F-463A-916C-A7C63F5F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</a:t>
            </a:r>
            <a:r>
              <a:rPr lang="en-US" dirty="0" err="1"/>
              <a:t>autograding</a:t>
            </a:r>
            <a:r>
              <a:rPr lang="en-US" dirty="0"/>
              <a:t>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9EA7C-229C-4A75-9E52-31AFF7DA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Source: </a:t>
            </a:r>
            <a:r>
              <a:rPr lang="en-US" sz="2400" dirty="0">
                <a:hlinkClick r:id="rId2"/>
              </a:rPr>
              <a:t>https://docs.github.com/en/education/manage-coursework-with-github-classroom/learn-with-github-classroom/view-autograding-results</a:t>
            </a:r>
            <a:r>
              <a:rPr lang="en-US" sz="2400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3FCC8-5793-49B6-BA95-E14A7A5E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074" name="Picture 2" descr="&quot;Actions&quot; tab with &quot;All workflows&quot; selected">
            <a:extLst>
              <a:ext uri="{FF2B5EF4-FFF2-40B4-BE49-F238E27FC236}">
                <a16:creationId xmlns:a16="http://schemas.microsoft.com/office/drawing/2014/main" id="{ED963654-54FC-4C4C-A258-B7AA6C664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75" y="2971800"/>
            <a:ext cx="11016049" cy="2956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051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DB74-2E3F-4F9B-A882-3D8457022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Version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3537A-902F-4EFB-9E3F-5F0C1FE8C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What does it mean?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84587-00F4-415D-A9A6-A0CFEA0C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01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249D3-52D9-4E3A-B116-D617BCEF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>
                <a:solidFill>
                  <a:srgbClr val="003C72"/>
                </a:solidFill>
              </a:rPr>
              <a:t>version control </a:t>
            </a:r>
            <a:r>
              <a:rPr lang="en-US" dirty="0"/>
              <a:t>software?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9F25B-1EB7-4CC4-A55B-3B7C01DF6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that records changes to files</a:t>
            </a:r>
          </a:p>
          <a:p>
            <a:r>
              <a:rPr lang="en-US" dirty="0"/>
              <a:t>Version control lets you:</a:t>
            </a:r>
          </a:p>
          <a:p>
            <a:pPr lvl="1"/>
            <a:r>
              <a:rPr lang="en-US" dirty="0"/>
              <a:t>Revert to previous versions</a:t>
            </a:r>
          </a:p>
          <a:p>
            <a:pPr lvl="1"/>
            <a:r>
              <a:rPr lang="en-US" dirty="0"/>
              <a:t>See the changes log</a:t>
            </a:r>
          </a:p>
          <a:p>
            <a:pPr lvl="2"/>
            <a:r>
              <a:rPr lang="en-US" dirty="0"/>
              <a:t>Along with messages, who submitted, etc.</a:t>
            </a:r>
          </a:p>
          <a:p>
            <a:pPr lvl="1"/>
            <a:r>
              <a:rPr lang="en-US" dirty="0"/>
              <a:t>Share your code with the rest of your team</a:t>
            </a:r>
          </a:p>
          <a:p>
            <a:pPr lvl="2"/>
            <a:r>
              <a:rPr lang="en-US" dirty="0"/>
              <a:t>Including merging your work</a:t>
            </a:r>
          </a:p>
          <a:p>
            <a:pPr lvl="1"/>
            <a:r>
              <a:rPr lang="en-US" dirty="0"/>
              <a:t>Backup/publish your work to a public repository</a:t>
            </a:r>
          </a:p>
          <a:p>
            <a:pPr lvl="2"/>
            <a:r>
              <a:rPr lang="en-US" dirty="0"/>
              <a:t>e.g. GitHub, </a:t>
            </a:r>
            <a:r>
              <a:rPr lang="en-US" dirty="0" err="1"/>
              <a:t>BitBucket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1752EC-C5B1-40E6-8C96-D556F286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67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7F51-CB14-4B78-B5EC-1A551772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A5E26-7506-4FD3-8FF1-8831D1CE0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Centralized (obsolete)</a:t>
            </a:r>
          </a:p>
          <a:p>
            <a:pPr lvl="1"/>
            <a:r>
              <a:rPr lang="en-US" dirty="0"/>
              <a:t>SVN </a:t>
            </a:r>
          </a:p>
          <a:p>
            <a:r>
              <a:rPr lang="en-US" dirty="0"/>
              <a:t>Distributed</a:t>
            </a:r>
          </a:p>
          <a:p>
            <a:pPr lvl="1"/>
            <a:r>
              <a:rPr lang="en-US" dirty="0"/>
              <a:t>Git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51F40-9F23-49D3-BBC2-E3D85B59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4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7F51-CB14-4B78-B5EC-1A551772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version control: </a:t>
            </a:r>
            <a:r>
              <a:rPr lang="en-US" dirty="0">
                <a:solidFill>
                  <a:srgbClr val="003C72"/>
                </a:solidFill>
              </a:rPr>
              <a:t>centralized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A5E26-7506-4FD3-8FF1-8831D1CE0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00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One server repository</a:t>
            </a:r>
          </a:p>
          <a:p>
            <a:r>
              <a:rPr lang="en-US" sz="2400" dirty="0"/>
              <a:t>All commits from all users are done into the same server repository</a:t>
            </a:r>
          </a:p>
          <a:p>
            <a:r>
              <a:rPr lang="en-US" sz="2400" dirty="0"/>
              <a:t>It can cause more conflict if more than one person work on the same file/module</a:t>
            </a:r>
          </a:p>
          <a:p>
            <a:pPr lvl="1"/>
            <a:r>
              <a:rPr lang="en-US" sz="2000" dirty="0"/>
              <a:t>Changes need to be well coordinated within the team, e.g., locking files.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FEE39B8C-4E98-4CD3-A589-A6E342C42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959169"/>
            <a:ext cx="6096000" cy="408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75ADE8-1A5F-46C2-B8B8-2516AE43DFEA}"/>
              </a:ext>
            </a:extLst>
          </p:cNvPr>
          <p:cNvSpPr txBox="1"/>
          <p:nvPr/>
        </p:nvSpPr>
        <p:spPr>
          <a:xfrm>
            <a:off x="978876" y="5721742"/>
            <a:ext cx="4659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>
                <a:hlinkClick r:id="rId3"/>
              </a:rPr>
              <a:t>https://www.geeksforgeeks.org/version-control-systems/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9A392-C0B5-40E1-ACBF-67E7A5BBE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65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7F51-CB14-4B78-B5EC-1A551772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version control: </a:t>
            </a:r>
            <a:r>
              <a:rPr lang="en-US" dirty="0">
                <a:solidFill>
                  <a:srgbClr val="003C72"/>
                </a:solidFill>
              </a:rPr>
              <a:t>distributed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A5E26-7506-4FD3-8FF1-8831D1CE0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00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One server repository</a:t>
            </a:r>
          </a:p>
          <a:p>
            <a:r>
              <a:rPr lang="en-US" sz="2400" dirty="0"/>
              <a:t>One client repository to each user</a:t>
            </a:r>
          </a:p>
          <a:p>
            <a:r>
              <a:rPr lang="en-US" sz="2400" dirty="0"/>
              <a:t>User commit/update to their own repository</a:t>
            </a:r>
          </a:p>
          <a:p>
            <a:r>
              <a:rPr lang="en-US" sz="2400" dirty="0"/>
              <a:t>After testing, the client updates the server repository (push)</a:t>
            </a:r>
          </a:p>
          <a:p>
            <a:r>
              <a:rPr lang="en-US" sz="2400" dirty="0"/>
              <a:t>It allows more flexibility for collaboration in a team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75ADE8-1A5F-46C2-B8B8-2516AE43DFEA}"/>
              </a:ext>
            </a:extLst>
          </p:cNvPr>
          <p:cNvSpPr txBox="1"/>
          <p:nvPr/>
        </p:nvSpPr>
        <p:spPr>
          <a:xfrm>
            <a:off x="978876" y="5721742"/>
            <a:ext cx="4659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>
                <a:hlinkClick r:id="rId2"/>
              </a:rPr>
              <a:t>https://www.geeksforgeeks.org/version-control-systems/</a:t>
            </a:r>
            <a:endParaRPr lang="en-US" sz="1200" dirty="0"/>
          </a:p>
          <a:p>
            <a:endParaRPr lang="en-US" sz="1200" dirty="0"/>
          </a:p>
        </p:txBody>
      </p:sp>
      <p:pic>
        <p:nvPicPr>
          <p:cNvPr id="2050" name="Picture 2" descr="dvcs">
            <a:extLst>
              <a:ext uri="{FF2B5EF4-FFF2-40B4-BE49-F238E27FC236}">
                <a16:creationId xmlns:a16="http://schemas.microsoft.com/office/drawing/2014/main" id="{78AD00BB-0F00-4E62-A766-6FAE59A29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698319"/>
            <a:ext cx="5791199" cy="4449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3BDC0-B55D-480A-A817-CAD17411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76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A2ECF-E017-4510-9BFC-F48B4B1B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1D6C1-CE05-4ED5-BC57-6EB982600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Git commands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242C6D-B57B-4FCF-AE2E-C61490F0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60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91278-2FBF-4C21-A97F-56F95D92C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Student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2CABD-6B15-4372-A0ED-E11602439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 up for the student developer pack (if you haven’t)</a:t>
            </a:r>
          </a:p>
          <a:p>
            <a:pPr lvl="1"/>
            <a:r>
              <a:rPr lang="en-US" dirty="0">
                <a:hlinkClick r:id="rId2"/>
              </a:rPr>
              <a:t>https://education.github.com/pack</a:t>
            </a:r>
            <a:r>
              <a:rPr lang="en-US" dirty="0"/>
              <a:t>  </a:t>
            </a:r>
          </a:p>
          <a:p>
            <a:r>
              <a:rPr lang="en-US" dirty="0"/>
              <a:t>You don’t need to create a new account, just link your ontariotechu.net email</a:t>
            </a:r>
          </a:p>
          <a:p>
            <a:r>
              <a:rPr lang="en-US" dirty="0"/>
              <a:t>Allows you to use private repositories and other premium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274FC-D36C-441F-80D4-644A7442E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72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D6DC-D388-43D6-B543-544762340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6600" cy="1325563"/>
          </a:xfrm>
        </p:spPr>
        <p:txBody>
          <a:bodyPr/>
          <a:lstStyle/>
          <a:p>
            <a:r>
              <a:rPr lang="en-US" dirty="0"/>
              <a:t>Getting started with a new project locally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94509-B5E4-4F07-914B-B37C5CA3A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you own local folder</a:t>
            </a:r>
          </a:p>
          <a:p>
            <a:pPr lvl="1"/>
            <a:r>
              <a:rPr lang="en-US" dirty="0"/>
              <a:t>The folder you want to start the project at</a:t>
            </a:r>
          </a:p>
          <a:p>
            <a:pPr lvl="1"/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Going into the desired location (cd – change directory)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Create a new folder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Go inside the project folder</a:t>
            </a:r>
          </a:p>
          <a:p>
            <a:pPr marL="457200" lvl="1" indent="0">
              <a:buNone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cd /home/</a:t>
            </a:r>
            <a:r>
              <a:rPr lang="en-US" dirty="0" err="1">
                <a:latin typeface="Consolas" panose="020B0609020204030204" pitchFamily="49" charset="0"/>
              </a:rPr>
              <a:t>someworkfolder</a:t>
            </a:r>
            <a:r>
              <a:rPr lang="en-US" dirty="0">
                <a:latin typeface="Consolas" panose="020B0609020204030204" pitchFamily="49" charset="0"/>
              </a:rPr>
              <a:t>/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>
                <a:latin typeface="Consolas" panose="020B0609020204030204" pitchFamily="49" charset="0"/>
              </a:rPr>
              <a:t>mkdir</a:t>
            </a:r>
            <a:r>
              <a:rPr lang="en-US" dirty="0">
                <a:latin typeface="Consolas" panose="020B0609020204030204" pitchFamily="49" charset="0"/>
              </a:rPr>
              <a:t> myproj1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cd myproj1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DD7B3-EFC8-4FDA-AC8F-A5629E2E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8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D6DC-D388-43D6-B543-54476234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local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94509-B5E4-4F07-914B-B37C5CA3A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Setting the new folder as a Git repository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Telling git to manage this folder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Creating a new file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Tell git to add everything (.) to be version controlled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Alternatively, you can say the fie name, for ex. “newfile.txt”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Commit the changes to the local repository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Parameter –m : indicates the message describing the commit</a:t>
            </a:r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git </a:t>
            </a:r>
            <a:r>
              <a:rPr lang="en-US" dirty="0" err="1">
                <a:latin typeface="Consolas" panose="020B0609020204030204" pitchFamily="49" charset="0"/>
              </a:rPr>
              <a:t>init</a:t>
            </a:r>
            <a:endParaRPr lang="en-US" dirty="0">
              <a:latin typeface="Consolas" panose="020B0609020204030204" pitchFamily="49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touch newfile.txt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git add 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git commit –m “initial commit”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sz="2000" dirty="0">
                <a:solidFill>
                  <a:srgbClr val="003C72"/>
                </a:solidFill>
              </a:rPr>
              <a:t>Note: git manages FILES not folders, if a folder or its subfolders have no files inside, the folder won’t be “saved” into the git repository.</a:t>
            </a:r>
          </a:p>
          <a:p>
            <a:pPr lvl="1"/>
            <a:r>
              <a:rPr lang="en-US" sz="1800" dirty="0">
                <a:solidFill>
                  <a:srgbClr val="003C72"/>
                </a:solidFill>
              </a:rPr>
              <a:t>For your initial commit to work you need to have a file in the folder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5FFD7-79CC-4F17-B160-2D7EE94A6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69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D6DC-D388-43D6-B543-54476234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94509-B5E4-4F07-914B-B37C5CA3A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en-US" dirty="0"/>
              <a:t>As you work, you can create other files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Creating  another file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Tell git to manage “otherfile.txt”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Commit the changes to the local repository</a:t>
            </a:r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touch otherfile.txt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git add otherfile.txt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git commit –m “adding other file”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E806BF-8FD9-4CDC-B66E-151F2C579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35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5F248-AEF6-4F2A-8C73-E591BE792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observe changes to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8F4D7-5655-4A9F-B710-C334DA27A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390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git status</a:t>
            </a:r>
          </a:p>
          <a:p>
            <a:pPr lvl="1"/>
            <a:r>
              <a:rPr lang="en-US" sz="2000" dirty="0"/>
              <a:t>Shows the status of your project compared to the repository</a:t>
            </a:r>
          </a:p>
          <a:p>
            <a:pPr lvl="1"/>
            <a:r>
              <a:rPr lang="en-US" sz="2000" dirty="0"/>
              <a:t>Ex. </a:t>
            </a:r>
            <a:r>
              <a:rPr lang="en-US" sz="2000" dirty="0">
                <a:latin typeface="Consolas" panose="020B0609020204030204" pitchFamily="49" charset="0"/>
              </a:rPr>
              <a:t>newfile.txt </a:t>
            </a:r>
            <a:r>
              <a:rPr lang="en-US" sz="2000" dirty="0"/>
              <a:t>was modified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git diff --cached</a:t>
            </a:r>
          </a:p>
          <a:p>
            <a:pPr lvl="1"/>
            <a:r>
              <a:rPr lang="en-US" sz="2000" dirty="0"/>
              <a:t>Shows the differences between versions in the files itself</a:t>
            </a:r>
          </a:p>
          <a:p>
            <a:pPr lvl="1"/>
            <a:r>
              <a:rPr lang="en-US" sz="2000" dirty="0"/>
              <a:t>This is used to handle conflicts, where conflicts are when both version have different code at the same position. </a:t>
            </a:r>
          </a:p>
          <a:p>
            <a:pPr lvl="1"/>
            <a:r>
              <a:rPr lang="en-US" sz="2000" dirty="0"/>
              <a:t>You will find those conflicts, then decide which version to keep, or if you will keep both by merging them together.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E5B77-42D2-4AC1-B33A-DD0443AE47FB}"/>
              </a:ext>
            </a:extLst>
          </p:cNvPr>
          <p:cNvSpPr txBox="1"/>
          <p:nvPr/>
        </p:nvSpPr>
        <p:spPr>
          <a:xfrm>
            <a:off x="7696200" y="3681333"/>
            <a:ext cx="4114800" cy="25853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diff git diff --cached </a:t>
            </a:r>
          </a:p>
          <a:p>
            <a:r>
              <a:rPr lang="en-US" dirty="0"/>
              <a:t>--git a/library.cpp b/library.cpp </a:t>
            </a:r>
          </a:p>
          <a:p>
            <a:r>
              <a:rPr lang="en-US" dirty="0"/>
              <a:t>new file mode 100644 </a:t>
            </a:r>
          </a:p>
          <a:p>
            <a:r>
              <a:rPr lang="en-US" dirty="0"/>
              <a:t>index 0000000..55d5de0 </a:t>
            </a:r>
          </a:p>
          <a:p>
            <a:r>
              <a:rPr lang="en-US" dirty="0"/>
              <a:t>--- /dev/null +++ b/library.cpp </a:t>
            </a:r>
          </a:p>
          <a:p>
            <a:r>
              <a:rPr lang="en-US" dirty="0"/>
              <a:t>@@ -0,0 +1,3 @@ </a:t>
            </a:r>
          </a:p>
          <a:p>
            <a:r>
              <a:rPr lang="en-US" dirty="0"/>
              <a:t>+void calculate(int a, int b) { </a:t>
            </a:r>
          </a:p>
          <a:p>
            <a:r>
              <a:rPr lang="en-US" dirty="0"/>
              <a:t>+ return a + b; </a:t>
            </a:r>
          </a:p>
          <a:p>
            <a:r>
              <a:rPr lang="en-US" dirty="0"/>
              <a:t>+}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F5FA9-6E57-42A5-A9BA-93FFFAFC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01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1741-58CD-486D-A9A2-F477ED9C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tutorials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9FDD-985F-463C-BCB4-55DE32AD9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locally hosted code to GitHub</a:t>
            </a:r>
          </a:p>
          <a:p>
            <a:r>
              <a:rPr lang="en-US" dirty="0">
                <a:hlinkClick r:id="rId2"/>
              </a:rPr>
              <a:t>https://docs.github.com/en/github/importing-your-projects-to-github/adding-an-existing-project-to-github-using-the-command-line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8B7E2-4ABC-4799-AA21-90B8813AF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58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B03B-A8A7-470E-A745-9B2ABA28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remote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FC2EC-58B3-45AF-9C8C-8D1F70099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your repository via the </a:t>
            </a:r>
            <a:r>
              <a:rPr lang="en-US" dirty="0" err="1">
                <a:hlinkClick r:id="rId2"/>
              </a:rPr>
              <a:t>Github</a:t>
            </a:r>
            <a:r>
              <a:rPr lang="en-US" dirty="0">
                <a:hlinkClick r:id="rId2"/>
              </a:rPr>
              <a:t> website</a:t>
            </a:r>
          </a:p>
          <a:p>
            <a:pPr lvl="1"/>
            <a:r>
              <a:rPr lang="en-US" dirty="0"/>
              <a:t>On your computer, clone the remote project your have just created using its URL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</p:txBody>
      </p:sp>
      <p:pic>
        <p:nvPicPr>
          <p:cNvPr id="3076" name="Picture 4" descr="https://i.gyazo.com/da633c7e96164c25d546b3b14ca90c92.png">
            <a:extLst>
              <a:ext uri="{FF2B5EF4-FFF2-40B4-BE49-F238E27FC236}">
                <a16:creationId xmlns:a16="http://schemas.microsoft.com/office/drawing/2014/main" id="{3BD527C8-D287-41AD-9D01-988471708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2837657"/>
            <a:ext cx="38290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5271D9-DBDB-4D43-A747-5BC8B86CA939}"/>
              </a:ext>
            </a:extLst>
          </p:cNvPr>
          <p:cNvSpPr txBox="1"/>
          <p:nvPr/>
        </p:nvSpPr>
        <p:spPr>
          <a:xfrm>
            <a:off x="844062" y="3352800"/>
            <a:ext cx="7132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git clone </a:t>
            </a:r>
            <a:r>
              <a:rPr lang="en-US" dirty="0">
                <a:latin typeface="Consolas" panose="020B0609020204030204" pitchFamily="49" charset="0"/>
              </a:rPr>
              <a:t>https://github.com/user1/myproj2.git myproj2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838ED-4B1D-440A-AC8F-284810EA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02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890FA-EEB4-4BCD-ADBE-0D529EE7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to Remote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63E8-0848-4D28-85B9-DA9BC63BE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make changes in your local repository</a:t>
            </a:r>
          </a:p>
          <a:p>
            <a:r>
              <a:rPr lang="en-US" dirty="0"/>
              <a:t>You can push changes back to the remote repository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git commit -m "Added hashing" 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git push -u origin main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D2A2F-8646-4955-8EB7-D40F0679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00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5C86-0B67-4930-8097-3AEC035EE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8E7A2-0BA3-4A93-BC80-01AA3CF20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are about to start work, it is best to update your code before you begin</a:t>
            </a:r>
          </a:p>
          <a:p>
            <a:r>
              <a:rPr lang="en-US" dirty="0"/>
              <a:t>Download any changes in the remote repository: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git pull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2258C-269F-4121-8488-80828ADC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11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1741-58CD-486D-A9A2-F477ED9C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tutorials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9FDD-985F-463C-BCB4-55DE32AD9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https://docs.github.com/en/github/importing-your-projects-to-github/importing-a-git-repository-using-the-command-line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E6DC-D520-4C2E-B6EE-8CA5210E5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31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EAE9-1E07-4120-8685-B96C146F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your GitHub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D0485-9CFF-454D-B4A2-FB002DE20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</a:rPr>
              <a:t>gitignore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files</a:t>
            </a:r>
            <a:r>
              <a:rPr lang="en-US" sz="2000" dirty="0"/>
              <a:t>: </a:t>
            </a:r>
            <a:r>
              <a:rPr lang="en-US" sz="2000" dirty="0">
                <a:hlinkClick r:id="rId2"/>
              </a:rPr>
              <a:t>https://docs.github.com/en/get-started/getting-started-with-git/ignoring-files</a:t>
            </a:r>
            <a:r>
              <a:rPr lang="en-US" sz="2000" dirty="0"/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readme.md </a:t>
            </a:r>
            <a:r>
              <a:rPr lang="en-US" dirty="0"/>
              <a:t>files: </a:t>
            </a:r>
            <a:r>
              <a:rPr lang="en-US" sz="2000" dirty="0">
                <a:hlinkClick r:id="rId3"/>
              </a:rPr>
              <a:t>https://docs.github.com/en/repositories/managing-your-repositorys-settings-and-features/customizing-your-repository/about-readmes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README files use markdown language – also used in </a:t>
            </a:r>
            <a:r>
              <a:rPr lang="en-US" sz="2000" dirty="0" err="1"/>
              <a:t>Jupyter</a:t>
            </a:r>
            <a:r>
              <a:rPr lang="en-US" sz="2000" dirty="0"/>
              <a:t> notebooks </a:t>
            </a:r>
          </a:p>
          <a:p>
            <a:pPr lvl="1"/>
            <a:r>
              <a:rPr lang="en-US" sz="2000" dirty="0"/>
              <a:t>Contain information about your project including how to run it</a:t>
            </a:r>
          </a:p>
          <a:p>
            <a:pPr lvl="1"/>
            <a:r>
              <a:rPr lang="en-US" sz="2000" dirty="0"/>
              <a:t>How to write a good README file: </a:t>
            </a:r>
            <a:r>
              <a:rPr lang="en-US" sz="2000" dirty="0">
                <a:hlinkClick r:id="rId4"/>
              </a:rPr>
              <a:t>https://www.freecodecamp.org/news/how-to-write-a-good-readme-file/</a:t>
            </a:r>
            <a:r>
              <a:rPr lang="en-US" sz="2000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07E88-8643-41BF-9416-96C491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0504133-B479-45F6-8E17-280E40F08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404031"/>
            <a:ext cx="3657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touch 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gitignore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2052104-7BA0-4342-8801-CCC0EFD87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221" y="2195165"/>
            <a:ext cx="3918380" cy="138499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*.class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Package Files #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*.jar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*.war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*.ear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C6DCCF-361E-497C-A0D7-770DE5B00E2D}"/>
              </a:ext>
            </a:extLst>
          </p:cNvPr>
          <p:cNvSpPr txBox="1"/>
          <p:nvPr/>
        </p:nvSpPr>
        <p:spPr>
          <a:xfrm>
            <a:off x="5802801" y="1825833"/>
            <a:ext cx="391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.</a:t>
            </a:r>
            <a:r>
              <a:rPr lang="en-US" dirty="0" err="1"/>
              <a:t>gitignore</a:t>
            </a:r>
            <a:r>
              <a:rPr lang="en-US" dirty="0"/>
              <a:t> file for a Java project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F66D47F-6EC0-4978-99B8-3644554AF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833361"/>
            <a:ext cx="3657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touch README.md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465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A2ECF-E017-4510-9BFC-F48B4B1B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1D6C1-CE05-4ED5-BC57-6EB982600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basic Git commands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09151-E88E-41B7-95FB-D6F8A9298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01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D95755A-1F38-4D84-9B48-086420EA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11E6BB-6D98-4D3B-995D-532EB7F13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8800" cy="4351338"/>
          </a:xfrm>
        </p:spPr>
        <p:txBody>
          <a:bodyPr>
            <a:normAutofit/>
          </a:bodyPr>
          <a:lstStyle/>
          <a:p>
            <a:r>
              <a:rPr lang="en-US" dirty="0"/>
              <a:t>A branch is a separate changelog</a:t>
            </a:r>
          </a:p>
          <a:p>
            <a:pPr lvl="1"/>
            <a:r>
              <a:rPr lang="en-US" dirty="0"/>
              <a:t>Any changes made to a branch do not affect other</a:t>
            </a:r>
          </a:p>
          <a:p>
            <a:pPr lvl="1"/>
            <a:r>
              <a:rPr lang="en-US" dirty="0"/>
              <a:t>branches</a:t>
            </a:r>
          </a:p>
          <a:p>
            <a:pPr lvl="1"/>
            <a:r>
              <a:rPr lang="en-US" dirty="0"/>
              <a:t>Useful for experimental features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1358F5-7357-41D0-92B4-0BA3CAA8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026" name="Picture 2" descr="Diagram that shows a feature1 branch with a pull request targeting main, and a feature2 branch with a pull request targeting feature1.">
            <a:extLst>
              <a:ext uri="{FF2B5EF4-FFF2-40B4-BE49-F238E27FC236}">
                <a16:creationId xmlns:a16="http://schemas.microsoft.com/office/drawing/2014/main" id="{5F2193C6-F4E5-487C-B476-6CDE279FA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249" y="708830"/>
            <a:ext cx="50482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agram that shows both feature1 and feature2 branches with pull requests targeting main.">
            <a:extLst>
              <a:ext uri="{FF2B5EF4-FFF2-40B4-BE49-F238E27FC236}">
                <a16:creationId xmlns:a16="http://schemas.microsoft.com/office/drawing/2014/main" id="{9B3C27D9-4BC0-4B32-B84F-F863343C8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249" y="2423716"/>
            <a:ext cx="50482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534BC6A-2404-4E79-ADDE-4519F63A2297}"/>
              </a:ext>
            </a:extLst>
          </p:cNvPr>
          <p:cNvSpPr txBox="1">
            <a:spLocks/>
          </p:cNvSpPr>
          <p:nvPr/>
        </p:nvSpPr>
        <p:spPr>
          <a:xfrm>
            <a:off x="838200" y="3886200"/>
            <a:ext cx="9867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Sometimes branches are kept separate</a:t>
            </a:r>
          </a:p>
          <a:p>
            <a:pPr lvl="2"/>
            <a:r>
              <a:rPr lang="en-US" dirty="0"/>
              <a:t>e.g. Mobile-optimized kernel</a:t>
            </a:r>
          </a:p>
          <a:p>
            <a:pPr lvl="1"/>
            <a:r>
              <a:rPr lang="en-US" dirty="0"/>
              <a:t>Sometimes branches are merged</a:t>
            </a:r>
          </a:p>
          <a:p>
            <a:pPr lvl="2"/>
            <a:r>
              <a:rPr lang="en-US" dirty="0"/>
              <a:t>e.g. When an experimental feature becomes stable</a:t>
            </a:r>
          </a:p>
          <a:p>
            <a:pPr lvl="1"/>
            <a:r>
              <a:rPr lang="en-US" dirty="0"/>
              <a:t>In general, you are making big changes you use branching</a:t>
            </a:r>
          </a:p>
          <a:p>
            <a:pPr lvl="1"/>
            <a:r>
              <a:rPr lang="en-US" dirty="0"/>
              <a:t>Please read more at: </a:t>
            </a:r>
            <a:r>
              <a:rPr lang="en-US" dirty="0">
                <a:hlinkClick r:id="rId4"/>
              </a:rPr>
              <a:t>https://guides.github.com/introduction/flow/</a:t>
            </a:r>
            <a:r>
              <a:rPr lang="en-US" dirty="0"/>
              <a:t> 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1202F-9702-4828-AA0F-76D6B8F5D1B6}"/>
              </a:ext>
            </a:extLst>
          </p:cNvPr>
          <p:cNvSpPr txBox="1"/>
          <p:nvPr/>
        </p:nvSpPr>
        <p:spPr>
          <a:xfrm>
            <a:off x="6477000" y="3637022"/>
            <a:ext cx="57189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About branches: </a:t>
            </a:r>
            <a:r>
              <a:rPr lang="en-US" sz="1050" dirty="0">
                <a:hlinkClick r:id="rId5"/>
              </a:rPr>
              <a:t>https://docs.github.com/en/pull-requests/collaborating-with-pull-requests/proposing-changes-to-your-work-with-pull-requests/about-branches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8919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F199-C7AE-4A59-8707-30B476334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a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B1841-4EF0-4A83-B98B-114600872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new branch “</a:t>
            </a:r>
            <a:r>
              <a:rPr lang="en-US" dirty="0" err="1"/>
              <a:t>webInterfaceVersion</a:t>
            </a:r>
            <a:r>
              <a:rPr lang="en-US" dirty="0"/>
              <a:t>”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git branch </a:t>
            </a:r>
            <a:r>
              <a:rPr lang="en-US" dirty="0" err="1">
                <a:latin typeface="Consolas" panose="020B0609020204030204" pitchFamily="49" charset="0"/>
              </a:rPr>
              <a:t>webInterfaceVersion</a:t>
            </a:r>
            <a:endParaRPr lang="en-US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git branch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Switch to your new branch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git checkout </a:t>
            </a:r>
            <a:r>
              <a:rPr lang="en-US" dirty="0" err="1">
                <a:latin typeface="Consolas" panose="020B0609020204030204" pitchFamily="49" charset="0"/>
              </a:rPr>
              <a:t>webInterfaceVersion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7BD68-EF12-4F6E-A757-D44B8FD6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96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992F7-CB44-4884-B0DE-3B13FE23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branch and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2E54C-DF6F-4761-9683-4C48B5701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make changes on your branch, then switch into the master branch to merge the other branch into master</a:t>
            </a:r>
          </a:p>
          <a:p>
            <a:pPr lvl="1"/>
            <a:r>
              <a:rPr lang="en-US" dirty="0"/>
              <a:t>The master branch is the original main branch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git checkout main</a:t>
            </a:r>
          </a:p>
          <a:p>
            <a:endParaRPr lang="en-US" dirty="0"/>
          </a:p>
          <a:p>
            <a:r>
              <a:rPr lang="en-US" dirty="0"/>
              <a:t>Merge branches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git merge </a:t>
            </a:r>
            <a:r>
              <a:rPr lang="en-US" dirty="0" err="1">
                <a:latin typeface="Consolas" panose="020B0609020204030204" pitchFamily="49" charset="0"/>
              </a:rPr>
              <a:t>webInterfaceVersion</a:t>
            </a:r>
            <a:endParaRPr lang="en-US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At this steps, you might find conflicts, you can use </a:t>
            </a:r>
            <a:r>
              <a:rPr lang="en-US" dirty="0">
                <a:latin typeface="Consolas" panose="020B0609020204030204" pitchFamily="49" charset="0"/>
              </a:rPr>
              <a:t>git diff </a:t>
            </a:r>
            <a:r>
              <a:rPr lang="en-US" dirty="0"/>
              <a:t>to find them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09EB66-4DDD-4593-B482-4E43693C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048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56B2E-6C22-471E-81F7-1EFDC7F75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useful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1B0D1-0C15-4AC1-A63A-84ABA8150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git log </a:t>
            </a:r>
          </a:p>
          <a:p>
            <a:pPr lvl="1"/>
            <a:r>
              <a:rPr lang="en-US" dirty="0"/>
              <a:t>View commit history</a:t>
            </a:r>
          </a:p>
          <a:p>
            <a:r>
              <a:rPr lang="en-US" dirty="0" err="1">
                <a:latin typeface="Consolas" panose="020B0609020204030204" pitchFamily="49" charset="0"/>
              </a:rPr>
              <a:t>gitk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View the commit history in a graphical window</a:t>
            </a:r>
          </a:p>
          <a:p>
            <a:pPr lvl="1"/>
            <a:endParaRPr lang="en-US" dirty="0"/>
          </a:p>
          <a:p>
            <a:r>
              <a:rPr lang="en-US" dirty="0"/>
              <a:t>You will be practicing this commands on your lab assignment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43731-389E-4348-8196-2B2DCC8C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90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1741-58CD-486D-A9A2-F477ED9C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tutorial links mentioned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9FDD-985F-463C-BCB4-55DE32AD9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hlinkClick r:id="rId2"/>
              </a:rPr>
              <a:t>https://docs.github.com/en/github/creating-cloning-and-archiving-repositories/creating-a-new-repository</a:t>
            </a:r>
          </a:p>
          <a:p>
            <a:r>
              <a:rPr lang="en-US" dirty="0">
                <a:hlinkClick r:id="rId2"/>
              </a:rPr>
              <a:t>https://docs.github.com/en/github/importing-your-projects-to-github/adding-an-existing-project-to-github-using-the-command-line</a:t>
            </a:r>
            <a:endParaRPr lang="en-US" dirty="0"/>
          </a:p>
          <a:p>
            <a:r>
              <a:rPr lang="en-US" dirty="0">
                <a:hlinkClick r:id="rId3"/>
              </a:rPr>
              <a:t>https://docs.github.com/en/github/importing-your-projects-to-github/importing-a-git-repository-using-the-command-line</a:t>
            </a:r>
            <a:endParaRPr lang="en-US" dirty="0"/>
          </a:p>
          <a:p>
            <a:r>
              <a:rPr lang="en-US" dirty="0">
                <a:hlinkClick r:id="rId4"/>
              </a:rPr>
              <a:t>https://education.github.com/pack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>
                <a:hlinkClick r:id="rId5"/>
              </a:rPr>
              <a:t>https://docs.github.com/en/get-started/getting-started-with-git/ignoring-files</a:t>
            </a:r>
            <a:r>
              <a:rPr lang="en-US" dirty="0"/>
              <a:t> </a:t>
            </a:r>
          </a:p>
          <a:p>
            <a:r>
              <a:rPr lang="en-US" dirty="0">
                <a:hlinkClick r:id="rId6"/>
              </a:rPr>
              <a:t>https://docs.github.com/en/repositories/managing-your-repositorys-settings-and-features/customizing-your-repository/about-readmes</a:t>
            </a:r>
            <a:r>
              <a:rPr lang="en-US" dirty="0"/>
              <a:t> </a:t>
            </a:r>
          </a:p>
          <a:p>
            <a:r>
              <a:rPr lang="en-US" dirty="0"/>
              <a:t>How to write a good README file: </a:t>
            </a:r>
            <a:r>
              <a:rPr lang="en-US" dirty="0">
                <a:hlinkClick r:id="rId7"/>
              </a:rPr>
              <a:t>https://www.freecodecamp.org/news/how-to-write-a-good-readme-file/</a:t>
            </a:r>
            <a:r>
              <a:rPr lang="en-US" dirty="0"/>
              <a:t> </a:t>
            </a:r>
          </a:p>
          <a:p>
            <a:r>
              <a:rPr lang="en-US" dirty="0">
                <a:hlinkClick r:id="rId8"/>
              </a:rPr>
              <a:t>https://docs.github.com/en/pull-requests/collaborating-with-pull-requests/proposing-changes-to-your-work-with-pull-requests/about-branches</a:t>
            </a:r>
            <a:r>
              <a:rPr lang="en-US" dirty="0"/>
              <a:t> </a:t>
            </a:r>
          </a:p>
          <a:p>
            <a:r>
              <a:rPr lang="en-US" dirty="0">
                <a:hlinkClick r:id="rId9"/>
              </a:rPr>
              <a:t>https://guides.github.com/introduction/flow/</a:t>
            </a:r>
            <a:endParaRPr lang="en-US" dirty="0"/>
          </a:p>
          <a:p>
            <a:r>
              <a:rPr lang="en-US" dirty="0">
                <a:hlinkClick r:id="rId10"/>
              </a:rPr>
              <a:t>https://guides.github.com/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51473-4FAF-4178-ADF9-8EDCE84B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3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10467</TotalTime>
  <Words>1352</Words>
  <Application>Microsoft Office PowerPoint</Application>
  <PresentationFormat>Widescreen</PresentationFormat>
  <Paragraphs>219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Slack-Lato</vt:lpstr>
      <vt:lpstr>Ubuntu</vt:lpstr>
      <vt:lpstr>Office Theme</vt:lpstr>
      <vt:lpstr>Software Systems Development and Integration CSCI 2020U</vt:lpstr>
      <vt:lpstr>Today we will…</vt:lpstr>
      <vt:lpstr>GitHub Classroom</vt:lpstr>
      <vt:lpstr>Canvas/Assignments</vt:lpstr>
      <vt:lpstr>GitHub Classroom</vt:lpstr>
      <vt:lpstr>Viewing autograding results</vt:lpstr>
      <vt:lpstr>Version control</vt:lpstr>
      <vt:lpstr>What is a version control software?</vt:lpstr>
      <vt:lpstr>Types of version control</vt:lpstr>
      <vt:lpstr>Types of version control: centralized</vt:lpstr>
      <vt:lpstr>Types of version control: distributed</vt:lpstr>
      <vt:lpstr>Examples</vt:lpstr>
      <vt:lpstr>GitHub Student</vt:lpstr>
      <vt:lpstr>Getting started with a new project locally</vt:lpstr>
      <vt:lpstr>Creating a local repository</vt:lpstr>
      <vt:lpstr>Making changes</vt:lpstr>
      <vt:lpstr>How to observe changes to the project</vt:lpstr>
      <vt:lpstr>Other tutorials</vt:lpstr>
      <vt:lpstr>Getting started with remote repository</vt:lpstr>
      <vt:lpstr>Push to Remote Repository</vt:lpstr>
      <vt:lpstr>Downloading changes</vt:lpstr>
      <vt:lpstr>Other tutorials</vt:lpstr>
      <vt:lpstr>Customize your GitHub repo</vt:lpstr>
      <vt:lpstr>Examples</vt:lpstr>
      <vt:lpstr>Branches</vt:lpstr>
      <vt:lpstr>Working with a branch</vt:lpstr>
      <vt:lpstr>Update branch and merge</vt:lpstr>
      <vt:lpstr>Other useful commands</vt:lpstr>
      <vt:lpstr>All tutorial links mentioned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for Scientists - Python CSCI 1040U</dc:title>
  <dc:creator>Mariana Shimabukuro</dc:creator>
  <cp:lastModifiedBy>Mariana Shimabukuro</cp:lastModifiedBy>
  <cp:revision>52</cp:revision>
  <dcterms:created xsi:type="dcterms:W3CDTF">2020-09-10T03:11:04Z</dcterms:created>
  <dcterms:modified xsi:type="dcterms:W3CDTF">2025-01-03T21:35:00Z</dcterms:modified>
</cp:coreProperties>
</file>